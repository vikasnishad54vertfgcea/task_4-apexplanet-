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484247</c:v>
                </c:pt>
                <c:pt idx="1">
                  <c:v>470533</c:v>
                </c:pt>
                <c:pt idx="2">
                  <c:v>609206</c:v>
                </c:pt>
                <c:pt idx="3">
                  <c:v>733215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49544</c:v>
                </c:pt>
                <c:pt idx="1">
                  <c:v>61619</c:v>
                </c:pt>
                <c:pt idx="2">
                  <c:v>81795</c:v>
                </c:pt>
                <c:pt idx="3">
                  <c:v>93439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D6CFC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4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7AE6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7AE60"/>
                </a:solidFill>
                <a:latin typeface="Arial"/>
              </a:rPr>
              <a:t>Revenue by Region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D6CFC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725458</c:v>
                </c:pt>
                <c:pt idx="1">
                  <c:v>678781</c:v>
                </c:pt>
                <c:pt idx="2">
                  <c:v>501240</c:v>
                </c:pt>
                <c:pt idx="3">
                  <c:v>391722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D6CFC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5F0E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F5F0E8"/>
                </a:solidFill>
                <a:latin typeface="Arial"/>
              </a:rPr>
              <a:t>Revenue by Segment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6CA8"/>
              </a:solidFill>
              <a:effectLst/>
            </c:spPr>
          </c:dPt>
          <c:dPt>
            <c:idx val="1"/>
            <c:bubble3D val="0"/>
            <c:spPr>
              <a:solidFill>
                <a:srgbClr val="C9A84C"/>
              </a:solidFill>
              <a:effectLst/>
            </c:spPr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1161401</c:v>
                </c:pt>
                <c:pt idx="1">
                  <c:v>706146</c:v>
                </c:pt>
                <c:pt idx="2">
                  <c:v>429653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D6CFC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4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</a:rPr>
              <a:t>INTERNSHIP PROJECT  ·  TASK 4  ·  DATA ANALYTICS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Superstore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47472" y="148132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Intelligence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47472" y="2286000"/>
            <a:ext cx="41148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4231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ANALYST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Vikas Navik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3419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DATASET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17320" y="3419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 ·  9,994 Orders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PERIOD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17320" y="3822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– 2017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TIMELINE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17320" y="4224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16-Day Internship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7315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$2.30M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629400" y="1463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D6CFC0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0" y="1920240"/>
            <a:ext cx="1920240" cy="27432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1031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$286K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62940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D6CFC0"/>
                </a:solidFill>
              </a:rPr>
              <a:t>TOTAL PROFIT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0" y="3063240"/>
            <a:ext cx="1920240" cy="27432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32461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629400" y="3794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D6CFC0"/>
                </a:solidFill>
              </a:rPr>
              <a:t>PROFIT MARGIN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CONFIDENTIAL  ·  VIKAS NAVIK  ·  TASK 4 DELIVERABLE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9A84C"/>
                </a:solidFill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Story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recorded $2.3M in revenue across 2014–2017 with 9,994 orders spanning three categories and four US regions. While revenue grew 51.4%, an aggressive discounting strategy eroded margins — 18.7% of all orders operated at a loss. Statistical analysis confirms discounts are a primary driver of profit destruction.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651760"/>
            <a:ext cx="2011680" cy="141732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651760"/>
            <a:ext cx="201168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$2.30M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3456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1B6CA8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CFC0"/>
                </a:solidFill>
              </a:rPr>
              <a:t>Across 2014–2017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2651760"/>
            <a:ext cx="2011680" cy="141732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2651760"/>
            <a:ext cx="20116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$286K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3456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1A7A4A"/>
                </a:solidFill>
              </a:rPr>
              <a:t>TOTAL PROFIT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1460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CFC0"/>
                </a:solidFill>
              </a:rPr>
              <a:t>+51.4% revenue growth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2651760"/>
            <a:ext cx="2011680" cy="141732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65176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63440" y="3456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C9A84C"/>
                </a:solidFill>
              </a:rPr>
              <a:t>PROFIT MARGIN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6344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CFC0"/>
                </a:solidFill>
              </a:rPr>
              <a:t>Below industry avg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2651760"/>
            <a:ext cx="2011680" cy="141732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2651760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18.7%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12280" y="3456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C0392B"/>
                </a:solidFill>
              </a:rPr>
              <a:t>LOSS ORDERS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1228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CFC0"/>
                </a:solidFill>
              </a:rPr>
              <a:t>Orders at a loss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315968"/>
            <a:ext cx="201168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315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F0E8"/>
                </a:solidFill>
              </a:rPr>
              <a:t>OBJECTIVE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31720" y="4315968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3A"/>
                </a:solidFill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468880" y="4315968"/>
            <a:ext cx="201168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315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F0E8"/>
                </a:solidFill>
              </a:rPr>
              <a:t>ANALYSIS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4315968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3A"/>
                </a:solidFill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17720" y="4315968"/>
            <a:ext cx="201168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4315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A0F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4315968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3A"/>
                </a:solidFill>
              </a:rPr>
              <a:t>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66560" y="4315968"/>
            <a:ext cx="201168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315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F0E8"/>
                </a:solidFill>
              </a:rPr>
              <a:t>ACTION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VIKAS NAVIK  ·  SUPERSTORE ANALYSIS  ·  TASK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1B6CA8"/>
                </a:solidFill>
              </a:rPr>
              <a:t>PART 1  · 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Trend Analysis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3657600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2801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280160"/>
            <a:ext cx="2834640" cy="713232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325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CF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80760" y="1600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Revenue: $484K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17647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Profit:   $49.5K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89320" y="2103120"/>
            <a:ext cx="2834640" cy="713232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CF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80760" y="2423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Revenue: $471K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2587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Profit:   $61.6K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2926080"/>
            <a:ext cx="2834640" cy="713232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2971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CF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080760" y="32461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Revenue: $609K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80760" y="3410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Profit:   $81.8K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89320" y="3749040"/>
            <a:ext cx="2834640" cy="713232"/>
          </a:xfrm>
          <a:prstGeom prst="rect">
            <a:avLst/>
          </a:prstGeom>
          <a:solidFill>
            <a:srgbClr val="12121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080760" y="40690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Revenue: $733K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80760" y="42336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Profit:   $93.4K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7472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CFC0"/>
                </a:solidFill>
              </a:rPr>
              <a:t>▲ Revenue grew 51.4% from 2014 to 2017. Best year: 2017 at $733K.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VIKAS NAVIK  ·  SUPERSTORE ANALYSIS  ·  TASK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27AE60"/>
                </a:solidFill>
              </a:rPr>
              <a:t>PART 2 &amp; 3  · 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&amp; Category Intelligence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502920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280160"/>
          <a:ext cx="41148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280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7AE60"/>
                </a:solidFill>
              </a:rPr>
              <a:t>CATEGORY BREAKDOWN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1737360"/>
            <a:ext cx="4206240" cy="658368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737360"/>
            <a:ext cx="10972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792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2084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CFC0"/>
                </a:solidFill>
              </a:rPr>
              <a:t>Revenue: $836,154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0" y="2084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Margin: 17.4%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2514600"/>
            <a:ext cx="4206240" cy="658368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514600"/>
            <a:ext cx="10972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2569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Furniture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2862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CFC0"/>
                </a:solidFill>
              </a:rPr>
              <a:t>Revenue: $742,000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0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Margin: 2.5%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3291840"/>
            <a:ext cx="4206240" cy="658368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3291840"/>
            <a:ext cx="109728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346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Supplies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46320" y="36393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CFC0"/>
                </a:solidFill>
              </a:rPr>
              <a:t>Revenue: $719,047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58000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Margin: 17.0%</a:t>
            </a:r>
            <a:endParaRPr lang="en-US" sz="11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663440" y="3291840"/>
          <a:ext cx="420624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VIKAS NAVIK  ·  SUPERSTORE ANALYSIS  ·  TASK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</a:rPr>
              <a:t>STATISTICAL VALIDATION  ·  A/B TEST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Testing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3657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61872"/>
            <a:ext cx="8503920" cy="77724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</a:t>
            </a:r>
            <a:pPr indent="0" marL="0">
              <a:buNone/>
            </a:pPr>
            <a:r>
              <a:rPr lang="en-US" sz="1100" dirty="0">
                <a:solidFill>
                  <a:srgbClr val="D6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do NOT significantly reduce profit per order          </a:t>
            </a:r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</a:t>
            </a:r>
            <a:pPr indent="0" marL="0">
              <a:buNone/>
            </a:pPr>
            <a:r>
              <a:rPr lang="en-US" sz="1100" dirty="0">
                <a:solidFill>
                  <a:srgbClr val="D6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significantly reduce profit — high discounts destroy margins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2011680" cy="1463040"/>
          </a:xfrm>
          <a:prstGeom prst="rect">
            <a:avLst/>
          </a:prstGeom>
          <a:solidFill>
            <a:srgbClr val="12121C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240280"/>
            <a:ext cx="201168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3408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D6CFC0"/>
                </a:solidFill>
              </a:rPr>
              <a:t>GROUP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100" kern="0" dirty="0">
                <a:solidFill>
                  <a:srgbClr val="D6CFC0"/>
                </a:solidFill>
              </a:rPr>
              <a:t>No Discount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$66.90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CFC0"/>
                </a:solidFill>
              </a:rPr>
              <a:t>Avg profit/order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96312" y="2240280"/>
            <a:ext cx="2011680" cy="1463040"/>
          </a:xfrm>
          <a:prstGeom prst="rect">
            <a:avLst/>
          </a:prstGeom>
          <a:solidFill>
            <a:srgbClr val="12121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2240280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9464" y="23408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D6CFC0"/>
                </a:solidFill>
              </a:rPr>
              <a:t>GROUP B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100" kern="0" dirty="0">
                <a:solidFill>
                  <a:srgbClr val="D6CFC0"/>
                </a:solidFill>
              </a:rPr>
              <a:t>With Discount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42032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-$6.66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42032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CFC0"/>
                </a:solidFill>
              </a:rPr>
              <a:t>Avg profit/order (LOSS)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72584" y="2240280"/>
            <a:ext cx="2011680" cy="1463040"/>
          </a:xfrm>
          <a:prstGeom prst="rect">
            <a:avLst/>
          </a:prstGeom>
          <a:solidFill>
            <a:srgbClr val="12121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72584" y="224028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5736" y="23408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D6CFC0"/>
                </a:solidFill>
              </a:rPr>
              <a:t>T-TEST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100" kern="0" dirty="0">
                <a:solidFill>
                  <a:srgbClr val="D6CFC0"/>
                </a:solidFill>
              </a:rPr>
              <a:t>p-value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18304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18304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CFC0"/>
                </a:solidFill>
              </a:rPr>
              <a:t>&lt;&lt; 0.05  Significant ✅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48856" y="2240280"/>
            <a:ext cx="2011680" cy="1463040"/>
          </a:xfrm>
          <a:prstGeom prst="rect">
            <a:avLst/>
          </a:prstGeom>
          <a:solidFill>
            <a:srgbClr val="12121C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48856" y="2240280"/>
            <a:ext cx="201168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23408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D6CFC0"/>
                </a:solidFill>
              </a:rPr>
              <a:t>95% CI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100" kern="0" dirty="0">
                <a:solidFill>
                  <a:srgbClr val="D6CFC0"/>
                </a:solidFill>
              </a:rPr>
              <a:t>Difference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94576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$64–$83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94576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CFC0"/>
                </a:solidFill>
              </a:rPr>
              <a:t>More profit without disc.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3858768"/>
            <a:ext cx="4754880" cy="777240"/>
          </a:xfrm>
          <a:prstGeom prst="rect">
            <a:avLst/>
          </a:prstGeom>
          <a:solidFill>
            <a:srgbClr val="12121C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931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VERDICT — REJECT H₀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4251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CFC0"/>
                </a:solidFill>
              </a:rPr>
              <a:t>Discounts are a statistically proven destroyer of profit at 99.99% confidence.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57800" y="3858768"/>
            <a:ext cx="3593592" cy="777240"/>
          </a:xfrm>
          <a:prstGeom prst="rect">
            <a:avLst/>
          </a:prstGeom>
          <a:solidFill>
            <a:srgbClr val="12121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94960" y="39319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$135,376 in losses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251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CFC0"/>
                </a:solidFill>
              </a:rPr>
              <a:t>Generated from high-discount (&gt;20%) orders alone.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VIKAS NAVIK  ·  SUPERSTORE ANALYSIS  ·  TASK 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27AE60"/>
                </a:solidFill>
              </a:rPr>
              <a:t>CONCLUSIONS  ·  CALL TO 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is Telling 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457200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98448"/>
            <a:ext cx="411480" cy="475488"/>
          </a:xfrm>
          <a:prstGeom prst="rect">
            <a:avLst/>
          </a:prstGeom>
          <a:solidFill>
            <a:srgbClr val="12121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984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13716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51.4% — strong trajectory but slowing in 2015 dip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956816"/>
            <a:ext cx="411480" cy="475488"/>
          </a:xfrm>
          <a:prstGeom prst="rect">
            <a:avLst/>
          </a:prstGeom>
          <a:solidFill>
            <a:srgbClr val="12121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95681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202996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with 17.4% margin — most profitable category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615184"/>
            <a:ext cx="411480" cy="475488"/>
          </a:xfrm>
          <a:prstGeom prst="rect">
            <a:avLst/>
          </a:prstGeom>
          <a:solidFill>
            <a:srgbClr val="12121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61518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" y="268833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discounting is bleeding money — only 2.5% margin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3273552"/>
            <a:ext cx="411480" cy="475488"/>
          </a:xfrm>
          <a:prstGeom prst="rect">
            <a:avLst/>
          </a:prstGeom>
          <a:solidFill>
            <a:srgbClr val="12121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27355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" y="334670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dominates at $725K — allocate more marketing budget here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931920"/>
            <a:ext cx="411480" cy="475488"/>
          </a:xfrm>
          <a:prstGeom prst="rect">
            <a:avLst/>
          </a:prstGeom>
          <a:solidFill>
            <a:srgbClr val="12121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93192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" y="400507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 loss orders proven statistically linked to discounts (p ≈ 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7AE60"/>
                </a:solidFill>
              </a:rPr>
              <a:t>STRATEGIC ACTIONS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1664208"/>
            <a:ext cx="3657600" cy="64008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12080" y="1664208"/>
            <a:ext cx="9144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7282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 Discounts at 20%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2011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high-discount orders causing losses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12080" y="2414016"/>
            <a:ext cx="3657600" cy="64008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12080" y="2414016"/>
            <a:ext cx="91440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478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in West Region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27614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— expand warehouse &amp; campaigns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12080" y="3163824"/>
            <a:ext cx="3657600" cy="64008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0" y="3163824"/>
            <a:ext cx="9144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3227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Technology Category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5112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 margin — prioritise in sales targets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0" y="3913632"/>
            <a:ext cx="3657600" cy="64008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12080" y="3913632"/>
            <a:ext cx="9144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3977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Furniture Strategy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42611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supplier costs &amp; discount policies now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212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VIKAS NAVIK  ·  SUPERSTORE ANALYSIS  ·  TASK 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4864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347472" y="3246120"/>
            <a:ext cx="32004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34015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CF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tells a story.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D6CF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just made it speak.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548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</a:rPr>
              <a:t>CONTACT &amp; LINKS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ANALYST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27432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71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Vikas Navik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709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GITHUB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984248"/>
            <a:ext cx="4023360" cy="27432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0299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github.com/vikasnishad54vertfgcea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3682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LINKEDIN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2642616"/>
            <a:ext cx="4023360" cy="27432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6883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linkedin.com/in/vikas-navik-a00029313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026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DATASET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3300984"/>
            <a:ext cx="4023360" cy="27432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3467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 ·  9,994 Orders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TASK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3959352"/>
            <a:ext cx="4023360" cy="27432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0050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·  16-Day Internship Program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4389120"/>
            <a:ext cx="402336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A0A0F"/>
                </a:solidFill>
              </a:rPr>
              <a:t>TASK 4  COMPLETE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Business Intelligence — Task 4</dc:title>
  <dc:subject>PptxGenJS Presentation</dc:subject>
  <dc:creator>Vikas Navik</dc:creator>
  <cp:lastModifiedBy>Vikas Navik</cp:lastModifiedBy>
  <cp:revision>1</cp:revision>
  <dcterms:created xsi:type="dcterms:W3CDTF">2026-03-08T07:10:43Z</dcterms:created>
  <dcterms:modified xsi:type="dcterms:W3CDTF">2026-03-08T07:10:43Z</dcterms:modified>
</cp:coreProperties>
</file>